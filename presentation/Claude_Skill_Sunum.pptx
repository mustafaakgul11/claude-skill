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2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06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66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40080"/>
            <a:ext cx="178308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7086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STAJ AR-GE GÖREVİ 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Skills ve Model Context Protocol (MCP) Araştırması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Skill’ler • MCP entegrasyonları • Prompt teknikleri • Workflow tasarımları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3337560"/>
            <a:ext cx="4754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675888"/>
            <a:ext cx="4572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Hazırlayan: Mustafa Akgül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Prodrom Bilişim Teknolojileri Ltd. Şti.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Temmuz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26680" y="4956048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54696" y="5102352"/>
            <a:ext cx="70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54696" y="555040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Prompt testi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887968" y="4956048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15984" y="5102352"/>
            <a:ext cx="70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15984" y="555040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Workflow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49256" y="4956048"/>
            <a:ext cx="960120" cy="1051560"/>
          </a:xfrm>
          <a:prstGeom prst="roundRect">
            <a:avLst>
              <a:gd name="adj" fmla="val 761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77272" y="5102352"/>
            <a:ext cx="70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177272" y="5550408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Kaynak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Projenin Kapsamı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Görev dokümanındaki teslim beklentileri tek bir araştırma paketinde birleştirildi.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Skills • MCP • Prompt Engineering • Workflow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5636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376" y="201168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Teknik rapor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141732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15636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76856" y="201168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Prompt testleri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03320" y="141732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15636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31336" y="201168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Workflow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141732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15636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85816" y="201168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Sunum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04495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Araştırılan Ana Başlıklar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4672" y="3383280"/>
            <a:ext cx="309981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Claude Skills, MCP mimarisi, Prompt Engineering teknikleri, başarılı kullanım örnekleri ve kurumsal workflow önerileri.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407408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04495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Uygulama Tarafı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0" y="3383280"/>
            <a:ext cx="309981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Dört farklı prompt tekniği Claude üzerinde test edildi. Çıktılar ekran görüntüleriyle rapora eklendi.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156448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04495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Teslim Paketi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21040" y="3383280"/>
            <a:ext cx="309981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GitHub reposu, teknik rapor, prompt klasörü, workflow diyagramları, prototip ve sunum dosyası hazırlandı.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Skills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Tekrarlanabilir görevler için yapılandırılmış yetenek yaklaşımı.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Skills • MCP • Prompt Engineering • Workflow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2588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047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Skill Nedir?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2962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Belirli bir görevi standart formatta yerine getirmeye yönelik talimat, bağlam ve araç mantığının birleşimidir.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58368" y="278892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5351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Neden Önemli?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2962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Aynı görevlerin benzer kalite ve biçimde tekrarlanmasını sağlar; rutin işlerde zaman kazandırır.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58368" y="42519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165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Kurumsal Kullanım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29626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Teknik rapor, dokümantasyon, müşteri destek, kod açıklama ve veri özetleme süreçlerinde uygulanabilir.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621792" cy="6217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819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417320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5819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1417320"/>
            <a:ext cx="621792" cy="6217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5819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06640" y="1417320"/>
            <a:ext cx="621792" cy="6217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5819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PDF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22128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Belge odaklı işlerde standart çıktı üretimi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3154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273552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Talimat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925312" y="3456432"/>
            <a:ext cx="4572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19088" y="3154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3273552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Skill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726680" y="3456432"/>
            <a:ext cx="4572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220456" y="3154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3273552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Çıktı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617720" y="4251960"/>
            <a:ext cx="4892040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462272"/>
            <a:ext cx="452628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Örnek kurum skill fikri: “Teknik Rapor Asistanı”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Standart başlıklar, dil kontrolü, kaynakça düzenleme ve PDF/DOCX çıktısı.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Context Protocol (MCP)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Claude’un harici araçlar ve veri kaynaklarıyla standart biçimde çalışmasını sağlar.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Skills • MCP • Prompt Engineering • Workflow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2880360"/>
            <a:ext cx="16459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74920" y="2880360"/>
            <a:ext cx="16459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92440" y="2880360"/>
            <a:ext cx="16459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92440" y="2880360"/>
            <a:ext cx="16459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92440" y="2880360"/>
            <a:ext cx="1645920" cy="91440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" y="2487168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60604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Kullanıcı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703320" y="2487168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60604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Claude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Host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720840" y="2487168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2606040"/>
            <a:ext cx="1243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MCP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Client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738360" y="160020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02368" y="1719072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GitHub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738360" y="2578608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2368" y="2697480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PostgreSQL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738360" y="35661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3685032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Dosya Sistemi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858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Tek protokol, çoklu kaynak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MCP ile her sistem için ayrı entegrasyon yazmak yerine standart bir iletişim modeli kullanılabilir.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85800" y="47091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487375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Güncel bağlam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" y="5212080"/>
            <a:ext cx="24140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Model, kurumsal veri kaynaklarından bağlam alabilir.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3703320" y="47091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67912" y="487375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Modüler yapı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867912" y="5212080"/>
            <a:ext cx="24140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Sunucular ihtiyaca göre eklenebilir veya çıkarılabilir.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720840" y="47091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487375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Kurumsal uyum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5432" y="5212080"/>
            <a:ext cx="24140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Erişim ve güvenlik kontrolleriyle yönetilebilir.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Engineering Teknikleri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Doğru prompt yapısı, Claude çıktısının düzenini ve kullanılabilirliğini doğrudan etkiler.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Skills • MCP • Prompt Engineering • Workflow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904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Açık ve Net Talimat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1828800"/>
            <a:ext cx="23225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Görev, kapsam, hedef çıktı ve kurallar doğrudan belirtilir. Genel içerik üretiminde etkilidir.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520440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4904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Few-Shot Prompting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85032" y="1828800"/>
            <a:ext cx="23225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Modele örnekler verilerek aynı formatta yanıt üretmesi sağlanır. Sınıflandırmada başarılıdır.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0" y="13258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49047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XML Prompting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65392" y="1828800"/>
            <a:ext cx="23225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Rol, bağlam, görev, kısıt ve çıktı formatı ayrı etiketlerle düzenlenir.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281160" y="1325880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149047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Task Decomposition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45752" y="1828800"/>
            <a:ext cx="19568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Karmaşık görevler küçük, kontrol edilebilir adımlara ayrılır.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58368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Karşılaştırmalı tercih alanları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3566160"/>
            <a:ext cx="5212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566160"/>
            <a:ext cx="521208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667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Teknik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2560320" y="366674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En uygun kullanım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68680" y="39959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</a:rPr>
              <a:t>Açık talimat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2560320" y="39959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Rapor, özet, açıklama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22960" y="4251960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3342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</a:rPr>
              <a:t>Few-shot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2560320" y="43342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Kategori, sınıflandırma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822960" y="4590288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6725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</a:rPr>
              <a:t>XML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2560320" y="46725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Kurallı teknik analiz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822960" y="4928616"/>
            <a:ext cx="4846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0109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F172A"/>
                </a:solidFill>
              </a:rPr>
              <a:t>Task decomposition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2560320" y="50109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</a:rPr>
              <a:t>Çok adımlı süreçler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537960" y="365760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776472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Prompt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7799832" y="3922776"/>
            <a:ext cx="44805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275320" y="365760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9328" y="3776472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Claude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9537192" y="3922776"/>
            <a:ext cx="44805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012680" y="365760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76688" y="3776472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Çıktı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583680" y="47091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Daha net talimat → daha az belirsizlik → daha kullanılabilir çıktı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Uygulamalı Prompt Testleri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Dört farklı teknik Claude üzerinde test edildi ve çıktılar rapora görsel olarak eklendi.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Skills • MCP • Prompt Engineering • Workflow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490472"/>
            <a:ext cx="694944" cy="420624"/>
          </a:xfrm>
          <a:prstGeom prst="roundRect">
            <a:avLst>
              <a:gd name="adj" fmla="val 1304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91056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2880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Açık ve Net Talimat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1527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</a:rPr>
              <a:t>Linux raporu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9052560" y="1527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Başarılı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37744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542032"/>
            <a:ext cx="694944" cy="420624"/>
          </a:xfrm>
          <a:prstGeom prst="round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642616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Few-Shot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9080" y="2578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</a:rPr>
              <a:t>Müşteri mesajı sınıflandırma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9052560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Başarılı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42900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593592"/>
            <a:ext cx="694944" cy="420624"/>
          </a:xfrm>
          <a:prstGeom prst="roundRect">
            <a:avLst>
              <a:gd name="adj" fmla="val 1304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694176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2880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XML Prompting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36301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</a:rPr>
              <a:t>Güvenlik bulgusu tablosu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9052560" y="3630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Başarılı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448056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645152"/>
            <a:ext cx="694944" cy="420624"/>
          </a:xfrm>
          <a:prstGeom prst="roundRect">
            <a:avLst>
              <a:gd name="adj" fmla="val 1304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745736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800" y="4663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Task Decomposition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69080" y="4681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75569"/>
                </a:solidFill>
              </a:rPr>
              <a:t>Pentest raporu süreci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9052560" y="4681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Başarılı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5623560"/>
            <a:ext cx="10789920" cy="502920"/>
          </a:xfrm>
          <a:prstGeom prst="roundRect">
            <a:avLst>
              <a:gd name="adj" fmla="val 1272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78815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Gözlem: Prompt ne kadar açık, yapılandırılmış ve göreve uygun olursa çıktı o kadar düzenli ve kullanılabilir oluyor.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Tasarımları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dirty="0" err="1">
                <a:solidFill>
                  <a:srgbClr val="C3CDDC"/>
                </a:solidFill>
              </a:rPr>
              <a:t>Beş</a:t>
            </a:r>
            <a:r>
              <a:rPr sz="1400" dirty="0">
                <a:solidFill>
                  <a:srgbClr val="C3CDDC"/>
                </a:solidFill>
              </a:rPr>
              <a:t> </a:t>
            </a:r>
            <a:r>
              <a:rPr sz="1400" dirty="0" err="1">
                <a:solidFill>
                  <a:srgbClr val="C3CDDC"/>
                </a:solidFill>
              </a:rPr>
              <a:t>kurumsal</a:t>
            </a:r>
            <a:r>
              <a:rPr sz="1400" dirty="0">
                <a:solidFill>
                  <a:srgbClr val="C3CDDC"/>
                </a:solidFill>
              </a:rPr>
              <a:t> workflow </a:t>
            </a:r>
            <a:r>
              <a:rPr sz="1400" dirty="0" err="1">
                <a:solidFill>
                  <a:srgbClr val="C3CDDC"/>
                </a:solidFill>
              </a:rPr>
              <a:t>örneği</a:t>
            </a:r>
            <a:r>
              <a:rPr sz="1400" dirty="0">
                <a:solidFill>
                  <a:srgbClr val="C3CDDC"/>
                </a:solidFill>
              </a:rPr>
              <a:t>: Claude ilk </a:t>
            </a:r>
            <a:r>
              <a:rPr sz="1400" dirty="0" err="1">
                <a:solidFill>
                  <a:srgbClr val="C3CDDC"/>
                </a:solidFill>
              </a:rPr>
              <a:t>taslağı</a:t>
            </a:r>
            <a:r>
              <a:rPr sz="1400" dirty="0">
                <a:solidFill>
                  <a:srgbClr val="C3CDDC"/>
                </a:solidFill>
              </a:rPr>
              <a:t> </a:t>
            </a:r>
            <a:r>
              <a:rPr sz="1400" dirty="0" err="1">
                <a:solidFill>
                  <a:srgbClr val="C3CDDC"/>
                </a:solidFill>
              </a:rPr>
              <a:t>üretir</a:t>
            </a:r>
            <a:r>
              <a:rPr sz="1400" dirty="0">
                <a:solidFill>
                  <a:srgbClr val="C3CDDC"/>
                </a:solidFill>
              </a:rPr>
              <a:t>, </a:t>
            </a:r>
            <a:r>
              <a:rPr sz="1400" dirty="0" err="1">
                <a:solidFill>
                  <a:srgbClr val="C3CDDC"/>
                </a:solidFill>
              </a:rPr>
              <a:t>nihai</a:t>
            </a:r>
            <a:r>
              <a:rPr sz="1400" dirty="0">
                <a:solidFill>
                  <a:srgbClr val="C3CDDC"/>
                </a:solidFill>
              </a:rPr>
              <a:t> </a:t>
            </a:r>
            <a:r>
              <a:rPr sz="1400" dirty="0" err="1">
                <a:solidFill>
                  <a:srgbClr val="C3CDDC"/>
                </a:solidFill>
              </a:rPr>
              <a:t>kontrol</a:t>
            </a:r>
            <a:r>
              <a:rPr sz="1400" dirty="0">
                <a:solidFill>
                  <a:srgbClr val="C3CDDC"/>
                </a:solidFill>
              </a:rPr>
              <a:t> </a:t>
            </a:r>
            <a:r>
              <a:rPr sz="1400" dirty="0" err="1">
                <a:solidFill>
                  <a:srgbClr val="C3CDDC"/>
                </a:solidFill>
              </a:rPr>
              <a:t>insanda</a:t>
            </a:r>
            <a:r>
              <a:rPr sz="1400" dirty="0">
                <a:solidFill>
                  <a:srgbClr val="C3CDDC"/>
                </a:solidFill>
              </a:rPr>
              <a:t> </a:t>
            </a:r>
            <a:r>
              <a:rPr sz="1400" dirty="0" err="1">
                <a:solidFill>
                  <a:srgbClr val="C3CDDC"/>
                </a:solidFill>
              </a:rPr>
              <a:t>kalır</a:t>
            </a:r>
            <a:r>
              <a:rPr sz="1400" dirty="0">
                <a:solidFill>
                  <a:srgbClr val="C3CDDC"/>
                </a:solidFill>
              </a:rPr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Skills • MCP • Prompt Engineering • Workflow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01400" y="64373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613479" y="4945867"/>
            <a:ext cx="585262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dirty="0">
                <a:solidFill>
                  <a:srgbClr val="BECADA"/>
                </a:solidFill>
              </a:rPr>
              <a:t>Her workflow, </a:t>
            </a:r>
            <a:r>
              <a:rPr sz="1400" dirty="0" err="1">
                <a:solidFill>
                  <a:srgbClr val="BECADA"/>
                </a:solidFill>
              </a:rPr>
              <a:t>hız</a:t>
            </a:r>
            <a:r>
              <a:rPr sz="1400" dirty="0">
                <a:solidFill>
                  <a:srgbClr val="BECADA"/>
                </a:solidFill>
              </a:rPr>
              <a:t> + </a:t>
            </a:r>
            <a:r>
              <a:rPr sz="1400" dirty="0" err="1">
                <a:solidFill>
                  <a:srgbClr val="BECADA"/>
                </a:solidFill>
              </a:rPr>
              <a:t>standart</a:t>
            </a:r>
            <a:r>
              <a:rPr sz="1400" dirty="0">
                <a:solidFill>
                  <a:srgbClr val="BECADA"/>
                </a:solidFill>
              </a:rPr>
              <a:t> format + </a:t>
            </a:r>
            <a:r>
              <a:rPr sz="1400" dirty="0" err="1">
                <a:solidFill>
                  <a:srgbClr val="BECADA"/>
                </a:solidFill>
              </a:rPr>
              <a:t>insan</a:t>
            </a:r>
            <a:r>
              <a:rPr sz="1400" dirty="0">
                <a:solidFill>
                  <a:srgbClr val="BECADA"/>
                </a:solidFill>
              </a:rPr>
              <a:t> </a:t>
            </a:r>
            <a:r>
              <a:rPr sz="1400" dirty="0" err="1">
                <a:solidFill>
                  <a:srgbClr val="BECADA"/>
                </a:solidFill>
              </a:rPr>
              <a:t>onayı</a:t>
            </a:r>
            <a:r>
              <a:rPr sz="1400" dirty="0">
                <a:solidFill>
                  <a:srgbClr val="BECADA"/>
                </a:solidFill>
              </a:rPr>
              <a:t> </a:t>
            </a:r>
            <a:r>
              <a:rPr sz="1400" dirty="0" err="1">
                <a:solidFill>
                  <a:srgbClr val="BECADA"/>
                </a:solidFill>
              </a:rPr>
              <a:t>prensibiyle</a:t>
            </a:r>
            <a:r>
              <a:rPr sz="1400" dirty="0">
                <a:solidFill>
                  <a:srgbClr val="BECADA"/>
                </a:solidFill>
              </a:rPr>
              <a:t> </a:t>
            </a:r>
            <a:r>
              <a:rPr sz="1400" dirty="0" err="1">
                <a:solidFill>
                  <a:srgbClr val="BECADA"/>
                </a:solidFill>
              </a:rPr>
              <a:t>tasarlandı</a:t>
            </a:r>
            <a:r>
              <a:rPr sz="1100" dirty="0">
                <a:solidFill>
                  <a:srgbClr val="BECADA"/>
                </a:solidFill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33087" y="1581912"/>
            <a:ext cx="466345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61888" y="158191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90688" y="158191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33087" y="2359152"/>
            <a:ext cx="466345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61888" y="235915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90688" y="235915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33087" y="3136392"/>
            <a:ext cx="466345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61888" y="313639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90688" y="313639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33087" y="3913632"/>
            <a:ext cx="466345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61888" y="391363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90688" y="391363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33087" y="4690872"/>
            <a:ext cx="466345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61888" y="469087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90688" y="4690872"/>
            <a:ext cx="466344" cy="0"/>
          </a:xfrm>
          <a:prstGeom prst="line">
            <a:avLst/>
          </a:prstGeom>
          <a:ln w="16510">
            <a:solidFill>
              <a:srgbClr val="BEC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1371600"/>
            <a:ext cx="21031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F5F8FC"/>
                </a:solidFill>
              </a:defRPr>
            </a:pPr>
            <a:r>
              <a:t>Teknik Doküman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137160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4F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Bilgi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137160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4F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Claude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37160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4F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Kontrol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137160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4F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Doküman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148840"/>
            <a:ext cx="21031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F5F8FC"/>
                </a:solidFill>
              </a:defRPr>
            </a:pPr>
            <a:r>
              <a:t>Güvenlik Log Analizi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214884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6E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Loglar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214884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6E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Analiz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214884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6E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214884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6E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Rapor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2926080"/>
            <a:ext cx="21031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F5F8FC"/>
                </a:solidFill>
              </a:defRPr>
            </a:pPr>
            <a:r>
              <a:t>Yazılım Geliştirme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88920" y="292608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A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Kod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292608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A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292608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A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Refactor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292608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A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Dokümantasyon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3703320"/>
            <a:ext cx="21031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F5F8FC"/>
                </a:solidFill>
              </a:defRPr>
            </a:pPr>
            <a:r>
              <a:t>Müşteri Destek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8920" y="370332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FFB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Talep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370332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FFB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Kategori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370332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FFB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Taslak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370332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FFB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Yanıt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480560"/>
            <a:ext cx="21031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F5F8FC"/>
                </a:solidFill>
              </a:defRPr>
            </a:pPr>
            <a:r>
              <a:t>Siber Güvenlik Raporlama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88920" y="448056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5D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Bulgular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7720" y="448056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5D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Risk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6520" y="448056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5D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Çözüm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75320" y="4480560"/>
            <a:ext cx="1325880" cy="420624"/>
          </a:xfrm>
          <a:prstGeom prst="roundRect">
            <a:avLst/>
          </a:prstGeom>
          <a:solidFill>
            <a:srgbClr val="1F2D3E"/>
          </a:solidFill>
          <a:ln w="15240">
            <a:solidFill>
              <a:srgbClr val="5D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F8FC"/>
                </a:solidFill>
              </a:rPr>
              <a:t>Final Rapor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5349240"/>
            <a:ext cx="10927080" cy="530352"/>
          </a:xfrm>
          <a:prstGeom prst="roundRect">
            <a:avLst/>
          </a:prstGeom>
          <a:solidFill>
            <a:srgbClr val="0F1824"/>
          </a:solidFill>
          <a:ln w="12700">
            <a:solidFill>
              <a:srgbClr val="32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8FC"/>
                </a:solidFill>
              </a:rPr>
              <a:t>Ortak ilke: Claude taslak üretir, insan doğrular, çıktı standart formatta teslim edilir.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Sonuç ve Teslim Paketi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Claude, doğru prompt teknikleri ve uygun workflow tasarımıyla kurumsal süreçlerde güçlü bir karar destek aracıdır.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1579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3816" y="26060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GitHub reposu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31720" y="20116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736" y="21579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59736" y="26060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Teknik rapor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77640" y="20116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05656" y="21579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05656" y="26060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Prompt testleri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20116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51576" y="21579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751576" y="26060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Workflow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69480" y="20116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7496" y="21579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97496" y="260604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Sunum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79476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050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Ana bulgu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343400"/>
            <a:ext cx="4434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</a:rPr>
              <a:t>Açık talimatlar, örnekler, XML yapı ve görev bölme teknikleri Claude çıktılarının düzenini ve kullanılabilirliğini artırdı.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6172200" y="379476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Risk yaklaşımı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343400"/>
            <a:ext cx="4434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</a:rPr>
              <a:t>Gizlilik, doğrulama ihtiyacı ve aşırı bağımlılık riskleri nedeniyle insan kontrolü her workflow’da korunmalıdır.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Kaynaklar: Anthropic dokümantasyonu, Model Context Protocol, GitHub MCP, OpenAI ve Microsoft prompt engineering kaynakları.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722</Words>
  <Application>Microsoft Office PowerPoint</Application>
  <PresentationFormat>Geniş ekran</PresentationFormat>
  <Paragraphs>174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Prodrom Bilişim Teknolojileri Ltd. Şti.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Skills ve Model Context Protocol (MCP) Araştırması</dc:title>
  <dc:subject>Claude Skills ve MCP Araştırması</dc:subject>
  <dc:creator>Mustafa Akgül</dc:creator>
  <cp:lastModifiedBy>hp</cp:lastModifiedBy>
  <cp:revision>2</cp:revision>
  <dcterms:created xsi:type="dcterms:W3CDTF">2026-07-28T08:32:41Z</dcterms:created>
  <dcterms:modified xsi:type="dcterms:W3CDTF">2026-07-28T08:44:03Z</dcterms:modified>
</cp:coreProperties>
</file>